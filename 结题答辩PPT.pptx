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7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亮亮图文旗舰店</a:t>
            </a:r>
            <a:endParaRPr lang="zh-CN" altLang="en-US" dirty="0" smtClean="0"/>
          </a:p>
          <a:p>
            <a:r>
              <a:rPr lang="en-US" altLang="zh-CN" dirty="0" smtClean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99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91505916d71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9526"/>
            <a:ext cx="12192000" cy="6867525"/>
          </a:xfrm>
          <a:prstGeom prst="rect">
            <a:avLst/>
          </a:prstGeom>
        </p:spPr>
      </p:pic>
      <p:sp>
        <p:nvSpPr>
          <p:cNvPr id="13" name="TextBox 7"/>
          <p:cNvSpPr txBox="1"/>
          <p:nvPr/>
        </p:nvSpPr>
        <p:spPr>
          <a:xfrm>
            <a:off x="-243205" y="2390140"/>
            <a:ext cx="12984480" cy="26733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基于机器学习的中介机匣</a:t>
            </a:r>
            <a:endParaRPr lang="en-US" sz="4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algn="ctr"/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快速优化设计方法研究</a:t>
            </a:r>
            <a:endParaRPr lang="en-US" sz="4800" dirty="0"/>
          </a:p>
          <a:p>
            <a:pPr algn="ctr"/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36378" y="4272648"/>
            <a:ext cx="1402080" cy="46037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14701" y="4278096"/>
            <a:ext cx="2621280" cy="46037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指导教师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：吴志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</a:t>
            </a:r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308" y="1244775"/>
            <a:ext cx="4027843" cy="787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99" advClick="0" advTm="5000">
        <p14:warp dir="in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ldLvl="0" animBg="1"/>
      <p:bldP spid="17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075213" y="642823"/>
            <a:ext cx="444398" cy="1810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项目背景与研究目标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31520" y="1325880"/>
            <a:ext cx="5486400" cy="384048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中介机匣是航空发动机关键承力部件，兼具安装连接、载荷传递和流道成形功能。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结构呈现薄壁回转件与支板框架耦合特征，需要同时兼顾刚度、强度、质量与工艺可实施性。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传统设计主要依赖有限元反复建模与人工调参，方案阶段效率低、对经验依赖强。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项目目标：建立“有限元分析—参数化建模—代理预测—多目标优化—软件封装”的完整研究链路。</a:t>
            </a:r>
            <a:endParaRPr lang="en-US" sz="1800" dirty="0"/>
          </a:p>
        </p:txBody>
      </p:sp>
      <p:pic>
        <p:nvPicPr>
          <p:cNvPr id="14" name="Image 1" descr="C:/Users/Lucien/Documents/Playground/report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17320"/>
            <a:ext cx="4937760" cy="4480560"/>
          </a:xfrm>
          <a:prstGeom prst="rect">
            <a:avLst/>
          </a:prstGeom>
        </p:spPr>
      </p:pic>
      <p:sp>
        <p:nvSpPr>
          <p:cNvPr id="15" name="Shape 11"/>
          <p:cNvSpPr/>
          <p:nvPr>
            <p:custDataLst>
              <p:tags r:id="rId2"/>
            </p:custDataLst>
          </p:nvPr>
        </p:nvSpPr>
        <p:spPr>
          <a:xfrm>
            <a:off x="777240" y="5440680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6" name="Text 12"/>
          <p:cNvSpPr/>
          <p:nvPr>
            <p:custDataLst>
              <p:tags r:id="rId3"/>
            </p:custDataLst>
          </p:nvPr>
        </p:nvSpPr>
        <p:spPr>
          <a:xfrm>
            <a:off x="886968" y="5513832"/>
            <a:ext cx="142646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核心变量</a:t>
            </a:r>
            <a:endParaRPr lang="en-US" sz="1000" dirty="0"/>
          </a:p>
        </p:txBody>
      </p:sp>
      <p:sp>
        <p:nvSpPr>
          <p:cNvPr id="17" name="Text 13"/>
          <p:cNvSpPr/>
          <p:nvPr>
            <p:custDataLst>
              <p:tags r:id="rId4"/>
            </p:custDataLst>
          </p:nvPr>
        </p:nvSpPr>
        <p:spPr>
          <a:xfrm>
            <a:off x="886968" y="5696712"/>
            <a:ext cx="142646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个</a:t>
            </a:r>
            <a:endParaRPr lang="en-US" sz="1800" dirty="0"/>
          </a:p>
        </p:txBody>
      </p:sp>
      <p:sp>
        <p:nvSpPr>
          <p:cNvPr id="18" name="Shape 14"/>
          <p:cNvSpPr/>
          <p:nvPr>
            <p:custDataLst>
              <p:tags r:id="rId5"/>
            </p:custDataLst>
          </p:nvPr>
        </p:nvSpPr>
        <p:spPr>
          <a:xfrm>
            <a:off x="2606040" y="5440680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9" name="Text 15"/>
          <p:cNvSpPr/>
          <p:nvPr>
            <p:custDataLst>
              <p:tags r:id="rId6"/>
            </p:custDataLst>
          </p:nvPr>
        </p:nvSpPr>
        <p:spPr>
          <a:xfrm>
            <a:off x="2715768" y="5513832"/>
            <a:ext cx="142646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样本数据库</a:t>
            </a:r>
            <a:endParaRPr lang="en-US" sz="1000" dirty="0"/>
          </a:p>
        </p:txBody>
      </p:sp>
      <p:sp>
        <p:nvSpPr>
          <p:cNvPr id="20" name="Text 16"/>
          <p:cNvSpPr/>
          <p:nvPr>
            <p:custDataLst>
              <p:tags r:id="rId7"/>
            </p:custDataLst>
          </p:nvPr>
        </p:nvSpPr>
        <p:spPr>
          <a:xfrm>
            <a:off x="2715768" y="5696712"/>
            <a:ext cx="142646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1225 组</a:t>
            </a:r>
            <a:endParaRPr lang="en-US" sz="1800" dirty="0"/>
          </a:p>
        </p:txBody>
      </p:sp>
      <p:sp>
        <p:nvSpPr>
          <p:cNvPr id="21" name="Shape 17"/>
          <p:cNvSpPr/>
          <p:nvPr>
            <p:custDataLst>
              <p:tags r:id="rId8"/>
            </p:custDataLst>
          </p:nvPr>
        </p:nvSpPr>
        <p:spPr>
          <a:xfrm>
            <a:off x="4434840" y="5440680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2" name="Text 18"/>
          <p:cNvSpPr/>
          <p:nvPr>
            <p:custDataLst>
              <p:tags r:id="rId9"/>
            </p:custDataLst>
          </p:nvPr>
        </p:nvSpPr>
        <p:spPr>
          <a:xfrm>
            <a:off x="4544568" y="5513832"/>
            <a:ext cx="142646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最终形态</a:t>
            </a:r>
            <a:endParaRPr lang="en-US" sz="1000" dirty="0"/>
          </a:p>
        </p:txBody>
      </p:sp>
      <p:sp>
        <p:nvSpPr>
          <p:cNvPr id="23" name="Text 19"/>
          <p:cNvSpPr/>
          <p:nvPr>
            <p:custDataLst>
              <p:tags r:id="rId10"/>
            </p:custDataLst>
          </p:nvPr>
        </p:nvSpPr>
        <p:spPr>
          <a:xfrm>
            <a:off x="4544568" y="5696712"/>
            <a:ext cx="142646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6C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可视化工具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研究内容与方法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31520" y="173736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5B84C4"/>
          </a:solidFill>
          <a:ln w="12700">
            <a:solidFill>
              <a:srgbClr val="5B84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19656"/>
            <a:ext cx="1508760" cy="6400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初始有限元分析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04872" y="173736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04872" y="1819656"/>
            <a:ext cx="1508760" cy="6400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参数化建模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78224" y="173736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78224" y="1819656"/>
            <a:ext cx="1508760" cy="6400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样本数据库构建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51576" y="173736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5E9C76"/>
          </a:solidFill>
          <a:ln w="12700">
            <a:solidFill>
              <a:srgbClr val="5E9C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51576" y="1819656"/>
            <a:ext cx="1508760" cy="6400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神经网络代理预测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24928" y="173736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24928" y="1819656"/>
            <a:ext cx="1508760" cy="6400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NSGA-II 多目标优化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98280" y="173736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123A72"/>
          </a:solidFill>
          <a:ln w="12700">
            <a:solidFill>
              <a:srgbClr val="123A7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98280" y="1819656"/>
            <a:ext cx="1508760" cy="6400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回代校核与软件封装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240280" y="1938528"/>
            <a:ext cx="128016" cy="292608"/>
          </a:xfrm>
          <a:prstGeom prst="chevron">
            <a:avLst/>
          </a:prstGeom>
          <a:solidFill>
            <a:srgbClr val="2F5FA7">
              <a:alpha val="88000"/>
            </a:srgbClr>
          </a:solidFill>
          <a:ln w="12700">
            <a:solidFill>
              <a:srgbClr val="2F5FA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13632" y="1938528"/>
            <a:ext cx="128016" cy="292608"/>
          </a:xfrm>
          <a:prstGeom prst="chevron">
            <a:avLst/>
          </a:prstGeom>
          <a:solidFill>
            <a:srgbClr val="2F5FA7">
              <a:alpha val="88000"/>
            </a:srgbClr>
          </a:solidFill>
          <a:ln w="12700">
            <a:solidFill>
              <a:srgbClr val="2F5FA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86984" y="1938528"/>
            <a:ext cx="128016" cy="292608"/>
          </a:xfrm>
          <a:prstGeom prst="chevron">
            <a:avLst/>
          </a:prstGeom>
          <a:solidFill>
            <a:srgbClr val="2F5FA7">
              <a:alpha val="88000"/>
            </a:srgbClr>
          </a:solidFill>
          <a:ln w="12700">
            <a:solidFill>
              <a:srgbClr val="2F5FA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60336" y="1938528"/>
            <a:ext cx="128016" cy="292608"/>
          </a:xfrm>
          <a:prstGeom prst="chevron">
            <a:avLst/>
          </a:prstGeom>
          <a:solidFill>
            <a:srgbClr val="2F5FA7">
              <a:alpha val="88000"/>
            </a:srgbClr>
          </a:solidFill>
          <a:ln w="12700">
            <a:solidFill>
              <a:srgbClr val="2F5FA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933688" y="1938528"/>
            <a:ext cx="128016" cy="292608"/>
          </a:xfrm>
          <a:prstGeom prst="chevron">
            <a:avLst/>
          </a:prstGeom>
          <a:solidFill>
            <a:srgbClr val="2F5FA7">
              <a:alpha val="88000"/>
            </a:srgbClr>
          </a:solidFill>
          <a:ln w="12700">
            <a:solidFill>
              <a:srgbClr val="2F5FA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" y="2926080"/>
            <a:ext cx="10972800" cy="2331720"/>
          </a:xfrm>
          <a:prstGeom prst="roundRect">
            <a:avLst>
              <a:gd name="adj" fmla="val 1569"/>
            </a:avLst>
          </a:prstGeom>
          <a:solidFill>
            <a:srgbClr val="F9FBFE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3218688"/>
            <a:ext cx="10424160" cy="173736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研究内容：识别中介机匣刚度薄弱环节，建立四厚度变量参数化模型，构建样本数据库并训练代理模型，完成多目标优化与刚度校核。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研究方法：有限元分析用于识别问题和校核方案；代理模型承担快速评估；NSGA-II 负责全局搜索；软件工具实现方法可视化与流程集成。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研究过程输出：初始模型、参数化模型、数据库、代理模型、Pareto 解集、推荐最优方案及可视化软件原型。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075213" y="642823"/>
            <a:ext cx="444398" cy="1810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初始有限元分析与问题识别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31520" y="1325880"/>
            <a:ext cx="5303520" cy="365760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初始厚度：内机匣 3 mm、分流环 3.5 mm、外机匣 4 mm、支板 2.5 mm；材料为 Ti65。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载荷工况：H、V、M、F 多向载荷及扭矩组合；边界条件模拟主安装节与板区约束。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网格策略：总体网格尺寸 20 mm，关键区域细化至 15 mm，总单元数 350548。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分析结论：结构最大等效应力 819.2 MPa、最大变形 7.10 mm、最小刚度仅 5.41×10^7 N/m。</a:t>
            </a:r>
            <a:endParaRPr lang="en-US" sz="1700" dirty="0"/>
          </a:p>
        </p:txBody>
      </p:sp>
      <p:pic>
        <p:nvPicPr>
          <p:cNvPr id="14" name="Image 1" descr="C:/Users/Lucien/Documents/Playground/report_media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325880"/>
            <a:ext cx="5212080" cy="29718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55080" y="4526280"/>
            <a:ext cx="5212080" cy="1051560"/>
          </a:xfrm>
          <a:prstGeom prst="roundRect">
            <a:avLst>
              <a:gd name="adj" fmla="val 3478"/>
            </a:avLst>
          </a:prstGeom>
          <a:solidFill>
            <a:srgbClr val="FFF7F2"/>
          </a:solidFill>
          <a:ln w="12700">
            <a:solidFill>
              <a:srgbClr val="F4D4C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0" y="4736592"/>
            <a:ext cx="4709160" cy="603504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问题定位：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刚度未达到 10^8 N/m 量级要求，说明关键矛盾不在局部单点补强，而在整体厚度分配与承载路径协调不足。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参数化建模与样本数据库</a:t>
            </a:r>
            <a:endParaRPr lang="en-US" sz="2400" dirty="0"/>
          </a:p>
        </p:txBody>
      </p:sp>
      <p:pic>
        <p:nvPicPr>
          <p:cNvPr id="13" name="Image 1" descr="C:/Users/Lucien/Documents/Playground/report_media/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251960" cy="4297680"/>
          </a:xfrm>
          <a:prstGeom prst="rect">
            <a:avLst/>
          </a:prstGeom>
        </p:spPr>
      </p:pic>
      <p:pic>
        <p:nvPicPr>
          <p:cNvPr id="14" name="Image 2" descr="C:/Users/Lucien/Documents/Playground/report_media/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600200"/>
            <a:ext cx="2880360" cy="12344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6760" y="1371600"/>
            <a:ext cx="3108960" cy="434340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设计变量：内机匣、分流环、外机匣、支板四个厚度参数。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参数范围：3–7 mm、3–9 mm、4–10 mm、2–6 mm，步长均为 1 mm。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数据库规模：共生成 1225 组样本，用于建立厚度参数与质量、应力、刚度之间的映射关系。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参数化模型结果：网格数 206583；最大应力 215 MPa；最大变形 1.29 mm；Y/Z 向刚度分别为 5.59×10^7 / 5.46×10^7 N/m。</a:t>
            </a:r>
            <a:endParaRPr lang="en-US" sz="1550" dirty="0"/>
          </a:p>
        </p:txBody>
      </p:sp>
      <p:sp>
        <p:nvSpPr>
          <p:cNvPr id="16" name="Shape 11"/>
          <p:cNvSpPr/>
          <p:nvPr>
            <p:custDataLst>
              <p:tags r:id="rId3"/>
            </p:custDataLst>
          </p:nvPr>
        </p:nvSpPr>
        <p:spPr>
          <a:xfrm>
            <a:off x="5303520" y="3154680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7" name="Text 12"/>
          <p:cNvSpPr/>
          <p:nvPr>
            <p:custDataLst>
              <p:tags r:id="rId4"/>
            </p:custDataLst>
          </p:nvPr>
        </p:nvSpPr>
        <p:spPr>
          <a:xfrm>
            <a:off x="5413248" y="3227832"/>
            <a:ext cx="124358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变量数</a:t>
            </a:r>
            <a:endParaRPr lang="en-US" sz="1000" dirty="0"/>
          </a:p>
        </p:txBody>
      </p:sp>
      <p:sp>
        <p:nvSpPr>
          <p:cNvPr id="18" name="Text 13"/>
          <p:cNvSpPr/>
          <p:nvPr>
            <p:custDataLst>
              <p:tags r:id="rId5"/>
            </p:custDataLst>
          </p:nvPr>
        </p:nvSpPr>
        <p:spPr>
          <a:xfrm>
            <a:off x="5413248" y="3410712"/>
            <a:ext cx="12435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4"/>
          <p:cNvSpPr/>
          <p:nvPr>
            <p:custDataLst>
              <p:tags r:id="rId6"/>
            </p:custDataLst>
          </p:nvPr>
        </p:nvSpPr>
        <p:spPr>
          <a:xfrm>
            <a:off x="6949440" y="3154680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0" name="Text 15"/>
          <p:cNvSpPr/>
          <p:nvPr>
            <p:custDataLst>
              <p:tags r:id="rId7"/>
            </p:custDataLst>
          </p:nvPr>
        </p:nvSpPr>
        <p:spPr>
          <a:xfrm>
            <a:off x="7059168" y="3227832"/>
            <a:ext cx="124358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样本数</a:t>
            </a:r>
            <a:endParaRPr lang="en-US" sz="1000" dirty="0"/>
          </a:p>
        </p:txBody>
      </p:sp>
      <p:sp>
        <p:nvSpPr>
          <p:cNvPr id="21" name="Text 16"/>
          <p:cNvSpPr/>
          <p:nvPr>
            <p:custDataLst>
              <p:tags r:id="rId8"/>
            </p:custDataLst>
          </p:nvPr>
        </p:nvSpPr>
        <p:spPr>
          <a:xfrm>
            <a:off x="7059168" y="3410712"/>
            <a:ext cx="12435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1225</a:t>
            </a:r>
            <a:endParaRPr lang="en-US" sz="1800" dirty="0"/>
          </a:p>
        </p:txBody>
      </p:sp>
      <p:sp>
        <p:nvSpPr>
          <p:cNvPr id="22" name="Shape 17"/>
          <p:cNvSpPr/>
          <p:nvPr>
            <p:custDataLst>
              <p:tags r:id="rId9"/>
            </p:custDataLst>
          </p:nvPr>
        </p:nvSpPr>
        <p:spPr>
          <a:xfrm>
            <a:off x="5303520" y="3913632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3" name="Text 18"/>
          <p:cNvSpPr/>
          <p:nvPr>
            <p:custDataLst>
              <p:tags r:id="rId10"/>
            </p:custDataLst>
          </p:nvPr>
        </p:nvSpPr>
        <p:spPr>
          <a:xfrm>
            <a:off x="5413248" y="3986784"/>
            <a:ext cx="124358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网格数</a:t>
            </a:r>
            <a:endParaRPr lang="en-US" sz="1000" dirty="0"/>
          </a:p>
        </p:txBody>
      </p:sp>
      <p:sp>
        <p:nvSpPr>
          <p:cNvPr id="24" name="Text 19"/>
          <p:cNvSpPr/>
          <p:nvPr>
            <p:custDataLst>
              <p:tags r:id="rId11"/>
            </p:custDataLst>
          </p:nvPr>
        </p:nvSpPr>
        <p:spPr>
          <a:xfrm>
            <a:off x="5413248" y="4169664"/>
            <a:ext cx="12435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6C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206583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pic>
        <p:nvPicPr>
          <p:cNvPr id="6" name="Image 0" descr="C:/Users/Lucien/Documents/Playground/ppt_build/template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6400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代理预测模型构建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950976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利用神经网络代理模型替代大规模重复有限元求解，提高优化迭代效率</a:t>
            </a:r>
            <a:endParaRPr lang="en-US" sz="1050" dirty="0"/>
          </a:p>
        </p:txBody>
      </p:sp>
      <p:pic>
        <p:nvPicPr>
          <p:cNvPr id="13" name="Image 1" descr="C:/Users/Lucien/Documents/Playground/report_media/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2926080" cy="2926080"/>
          </a:xfrm>
          <a:prstGeom prst="rect">
            <a:avLst/>
          </a:prstGeom>
        </p:spPr>
      </p:pic>
      <p:pic>
        <p:nvPicPr>
          <p:cNvPr id="14" name="Image 2" descr="C:/Users/Lucien/Documents/Playground/report_media/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417320"/>
            <a:ext cx="3154680" cy="2560320"/>
          </a:xfrm>
          <a:prstGeom prst="rect">
            <a:avLst/>
          </a:prstGeom>
        </p:spPr>
      </p:pic>
      <p:pic>
        <p:nvPicPr>
          <p:cNvPr id="15" name="Image 3" descr="C:/Users/Lucien/Documents/Playground/report_media/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417320"/>
            <a:ext cx="3749040" cy="2697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" y="4617720"/>
            <a:ext cx="10607040" cy="132588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模型输入：14 维特征向量；输出：质量、最大应力、Y/Z 向刚度。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网络结构：单隐层神经网络，隐层节点数 128，训练集与测试集按 7:3 划分。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训练参数：学习率 0.001，正则化系数 0.001，批大小 16。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预测效果：整体误差控制在 5% 以内，可满足方案筛选和优化决策需求。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9646920" y="502920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756648" y="5102352"/>
            <a:ext cx="133502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预测误差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756648" y="5285232"/>
            <a:ext cx="133502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 5%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多目标优化过程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950976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在满足双向刚度和强度约束下，实现质量与最大应力的综合优化</a:t>
            </a:r>
            <a:endParaRPr lang="en-US" sz="1050" dirty="0"/>
          </a:p>
        </p:txBody>
      </p:sp>
      <p:pic>
        <p:nvPicPr>
          <p:cNvPr id="13" name="Image 1" descr="C:/Users/Lucien/Documents/Playground/report_media/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383280" cy="2148840"/>
          </a:xfrm>
          <a:prstGeom prst="rect">
            <a:avLst/>
          </a:prstGeom>
        </p:spPr>
      </p:pic>
      <p:pic>
        <p:nvPicPr>
          <p:cNvPr id="14" name="Image 2" descr="C:/Users/Lucien/Documents/Playground/report_media/image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2743200" cy="2880360"/>
          </a:xfrm>
          <a:prstGeom prst="rect">
            <a:avLst/>
          </a:prstGeom>
        </p:spPr>
      </p:pic>
      <p:pic>
        <p:nvPicPr>
          <p:cNvPr id="15" name="Image 3" descr="C:/Users/Lucien/Documents/Playground/report_media/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389888"/>
            <a:ext cx="3749040" cy="2743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4526280"/>
            <a:ext cx="10972800" cy="132588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优化目标：在满足结构性能要求前提下，尽量降低质量并保持较低应力水平。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约束条件：Y、Z 向刚度均不低于 1.0×10^8 N/m，并满足强度安全要求。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搜索范围：四个厚度变量进一步细化至 0.1 mm 步长；算法设置为 50 代 × 50 个体，总评估 2550 次。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输出结果：形成反映质量—应力—刚度权衡关系的 Pareto 非支配解集。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pic>
        <p:nvPicPr>
          <p:cNvPr id="6" name="Image 0" descr="C:/Users/Lucien/Documents/Playground/ppt_build/template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64008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27080" y="502920"/>
            <a:ext cx="740664" cy="74066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23A7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92917" y="568757"/>
            <a:ext cx="608990" cy="60899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23A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075213" y="642823"/>
            <a:ext cx="444398" cy="1810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23A7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南航</a:t>
            </a:r>
            <a:endParaRPr lang="en-US" sz="1620" dirty="0"/>
          </a:p>
        </p:txBody>
      </p:sp>
      <p:sp>
        <p:nvSpPr>
          <p:cNvPr id="10" name="Text 7"/>
          <p:cNvSpPr/>
          <p:nvPr/>
        </p:nvSpPr>
        <p:spPr>
          <a:xfrm>
            <a:off x="11075213" y="856793"/>
            <a:ext cx="444398" cy="987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75" b="1" dirty="0">
                <a:solidFill>
                  <a:srgbClr val="2F5F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NUAA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关键结果与刚度校核</a:t>
            </a:r>
            <a:endParaRPr lang="en-US" sz="2400" dirty="0"/>
          </a:p>
        </p:txBody>
      </p:sp>
      <p:pic>
        <p:nvPicPr>
          <p:cNvPr id="13" name="Image 1" descr="C:/Users/Lucien/Documents/Playground/report_media/image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2240280" cy="2057400"/>
          </a:xfrm>
          <a:prstGeom prst="rect">
            <a:avLst/>
          </a:prstGeom>
        </p:spPr>
      </p:pic>
      <p:pic>
        <p:nvPicPr>
          <p:cNvPr id="14" name="Image 2" descr="C:/Users/Lucien/Documents/Playground/report_media/imag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8" y="1325880"/>
            <a:ext cx="2240280" cy="20574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713105" y="1390015"/>
          <a:ext cx="5536565" cy="2171700"/>
        </p:xfrm>
        <a:graphic>
          <a:graphicData uri="http://schemas.openxmlformats.org/drawingml/2006/table">
            <a:tbl>
              <a:tblPr/>
              <a:tblGrid>
                <a:gridCol w="1294765"/>
                <a:gridCol w="1428750"/>
                <a:gridCol w="937895"/>
                <a:gridCol w="937260"/>
                <a:gridCol w="937895"/>
              </a:tblGrid>
              <a:tr h="723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厚度组合 / mm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最大应力 / MPa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Y 向刚度 / N·m^-1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Z 向刚度 / N·m^-1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初始有限元方案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 / 3.5 / 4 / 2.5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819.2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5.41×10^7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5.41×10^7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软件推荐最优方案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9.3 / 5.5 / 9.7 / 5.8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83.0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1.004×10^8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1.024×10^8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749935" y="3886200"/>
            <a:ext cx="1901825" cy="79883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59536" y="3959352"/>
            <a:ext cx="147218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最优质量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859536" y="4142232"/>
            <a:ext cx="14721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299.2 kg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2651760" y="3886200"/>
            <a:ext cx="1807210" cy="77724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761488" y="3959352"/>
            <a:ext cx="147218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最大应力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761488" y="4142232"/>
            <a:ext cx="14721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6C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83.0 MPa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4553585" y="3886200"/>
            <a:ext cx="1753235" cy="767715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63440" y="3959352"/>
            <a:ext cx="147218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 向刚度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53585" y="4302252"/>
            <a:ext cx="14721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1.004×10^8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859790" y="4926330"/>
            <a:ext cx="1689735" cy="890905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59536" y="5099304"/>
            <a:ext cx="147218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 向刚度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59536" y="5505069"/>
            <a:ext cx="14721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1.024×10^8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2678430" y="4864735"/>
            <a:ext cx="3628390" cy="954405"/>
          </a:xfrm>
          <a:prstGeom prst="roundRect">
            <a:avLst>
              <a:gd name="adj" fmla="val 6098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060827" y="5156708"/>
            <a:ext cx="3246120" cy="34747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校核结论：优化后 Y、Z 向刚度均超过 1.0×10^8 N/m，达到项目目标量级，验证了推荐方案的可实施性。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取得的成果</a:t>
            </a:r>
            <a:endParaRPr lang="en-US" sz="2400" dirty="0"/>
          </a:p>
        </p:txBody>
      </p:sp>
      <p:pic>
        <p:nvPicPr>
          <p:cNvPr id="13" name="Image 1" descr="C:/Users/Lucien/Documents/Playground/report_media/tool_ui_m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261872"/>
            <a:ext cx="6400800" cy="4983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1463040"/>
            <a:ext cx="3977640" cy="356616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形成完整研究成果链：初始模型、参数化模型、样本数据库、代理模型、优化结果</a:t>
            </a:r>
            <a:r>
              <a:rPr lang="zh-CN" alt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开发了集参数设置、性能预测、多目标优化、Abaqus 脚本导出于一体的本地可视化工具。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工具可稳定复现研究中的主要流程，支持参数输入、结果展示与推荐方案输出。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研究成果已由文字结论进一步转化为可展示、可复用、可继续扩展的工具化成果。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22960" y="5074920"/>
            <a:ext cx="1448435" cy="855980"/>
          </a:xfrm>
          <a:prstGeom prst="roundRect">
            <a:avLst>
              <a:gd name="adj" fmla="val 8333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32688" y="5148072"/>
            <a:ext cx="119786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32688" y="5330952"/>
            <a:ext cx="119786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1225 组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2395855" y="5074920"/>
            <a:ext cx="1508125" cy="848995"/>
          </a:xfrm>
          <a:prstGeom prst="roundRect">
            <a:avLst>
              <a:gd name="adj" fmla="val 8333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05456" y="5148072"/>
            <a:ext cx="119786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代理误差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505456" y="5330952"/>
            <a:ext cx="119786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≤5%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3968750" y="5074920"/>
            <a:ext cx="956310" cy="848995"/>
          </a:xfrm>
          <a:prstGeom prst="roundRect">
            <a:avLst>
              <a:gd name="adj" fmla="val 8333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078224" y="5148072"/>
            <a:ext cx="69494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078605" y="5534025"/>
            <a:ext cx="662305" cy="1809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6C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软件化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特色与创新点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22960" y="1325880"/>
            <a:ext cx="10607040" cy="804672"/>
          </a:xfrm>
          <a:prstGeom prst="roundRect">
            <a:avLst>
              <a:gd name="adj" fmla="val 4545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" y="149961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完整闭环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78735" y="1463040"/>
            <a:ext cx="8732520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构建“有限元分析—参数化建模—数据库—代理预测—多目标优化—回代校核—软件封装”的完整研究链路。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2240280"/>
            <a:ext cx="1060704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241401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少参数高针对性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578735" y="2377440"/>
            <a:ext cx="8732520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聚焦四个关键厚度变量，在保持工程代表性的同时控制了优化复杂度。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" y="3154680"/>
            <a:ext cx="10607040" cy="804672"/>
          </a:xfrm>
          <a:prstGeom prst="roundRect">
            <a:avLst>
              <a:gd name="adj" fmla="val 4545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4128" y="332841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数据驱动提效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578735" y="3328670"/>
            <a:ext cx="8732520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1225 组样本构建数据库并训练代理模型，将高成本求解转化为快速预测。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2960" y="4069080"/>
            <a:ext cx="1060704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4128" y="424281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结果可验证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578735" y="4329430"/>
            <a:ext cx="8732520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优化方案不是停留在算法层面，而是返回有限元模型完成刚度与强度校核。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2960" y="4983480"/>
            <a:ext cx="10607040" cy="804672"/>
          </a:xfrm>
          <a:prstGeom prst="roundRect">
            <a:avLst>
              <a:gd name="adj" fmla="val 4545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4128" y="515721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成果工具化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477770" y="5157470"/>
            <a:ext cx="8732520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完成可视化软件原型开发，提升了成果的展示性、复用性和推广潜力。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345F"/>
          </a:solidFill>
          <a:ln w="12700">
            <a:solidFill>
              <a:srgbClr val="1634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54864"/>
          </a:xfrm>
          <a:prstGeom prst="rect">
            <a:avLst/>
          </a:prstGeom>
          <a:solidFill>
            <a:srgbClr val="43A1D8"/>
          </a:solidFill>
          <a:ln w="12700">
            <a:solidFill>
              <a:srgbClr val="43A1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南京航空航天大学 | 大学生创新训练计划项目答辩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075213" y="642823"/>
            <a:ext cx="444398" cy="1810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研究体会与展望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49808" y="1417320"/>
            <a:ext cx="5440680" cy="3611880"/>
          </a:xfrm>
          <a:prstGeom prst="roundRect">
            <a:avLst>
              <a:gd name="adj" fmla="val 1266"/>
            </a:avLst>
          </a:prstGeom>
          <a:solidFill>
            <a:srgbClr val="F8FB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1664208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研究体会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2011680"/>
            <a:ext cx="4846320" cy="246888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复杂结构研究不能只停留在“算出结果”，更要形成清晰的问题分析路径。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有限元分析、数据建模和优化算法之间的衔接，是提升研究效率的关键。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把方法进一步封装为软件工具，有助于提高成果的可展示性与可复用性。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400800" y="1417320"/>
            <a:ext cx="5029200" cy="3611880"/>
          </a:xfrm>
          <a:prstGeom prst="roundRect">
            <a:avLst>
              <a:gd name="adj" fmla="val 1266"/>
            </a:avLst>
          </a:prstGeom>
          <a:solidFill>
            <a:srgbClr val="FFF9F5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1664208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6C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后续展望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37960" y="2011680"/>
            <a:ext cx="4526280" cy="246888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进一步细化有限元模型，补充更多材料体系、载荷工况和边界条件。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扩充样本数据库并提升代理模型精度，增强复杂工况下的泛化能力。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将方法推广至承力环、安装机匣和类似薄壁承力结构的方案设计场景。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59"/>
          <p:cNvSpPr>
            <a:spLocks noChangeArrowheads="1"/>
          </p:cNvSpPr>
          <p:nvPr/>
        </p:nvSpPr>
        <p:spPr bwMode="auto">
          <a:xfrm>
            <a:off x="2874601" y="2933477"/>
            <a:ext cx="6442798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9pPr>
          </a:lstStyle>
          <a:p>
            <a:pPr algn="ctr"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感谢聆听，批评指导</a:t>
            </a:r>
            <a:endParaRPr lang="zh-CN" altLang="en-US" sz="4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259"/>
          <p:cNvSpPr>
            <a:spLocks noChangeArrowheads="1"/>
          </p:cNvSpPr>
          <p:nvPr/>
        </p:nvSpPr>
        <p:spPr bwMode="auto">
          <a:xfrm>
            <a:off x="2329536" y="3947284"/>
            <a:ext cx="7569298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9pPr>
          </a:lstStyle>
          <a:p>
            <a:pPr algn="ctr">
              <a:buNone/>
            </a:pPr>
            <a:endParaRPr lang="zh-CN" altLang="en-US" sz="2000" b="1" cap="all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5"/>
          <p:cNvSpPr/>
          <p:nvPr/>
        </p:nvSpPr>
        <p:spPr>
          <a:xfrm>
            <a:off x="0" y="6710364"/>
            <a:ext cx="12192000" cy="147637"/>
          </a:xfrm>
          <a:prstGeom prst="rect">
            <a:avLst/>
          </a:prstGeom>
          <a:solidFill>
            <a:srgbClr val="16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2" tIns="45719" rIns="91372" bIns="45719" anchor="ctr"/>
          <a:lstStyle/>
          <a:p>
            <a:pPr algn="ctr">
              <a:defRPr/>
            </a:pP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99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99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99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2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3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4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5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6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7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8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9.xml><?xml version="1.0" encoding="utf-8"?>
<p:tagLst xmlns:p="http://schemas.openxmlformats.org/presentationml/2006/main">
  <p:tag name="KSO_WM_DIAGRAM_VIRTUALLY_FRAME" val="{&quot;height&quot;:51.83999999999996,&quot;left&quot;:61.2,&quot;top&quot;:428.4,&quot;width&quot;:417.6}"/>
</p:tagLst>
</file>

<file path=ppt/tags/tag10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ags/tag11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ags/tag12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ags/tag13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ags/tag14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ags/tag15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ags/tag16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ags/tag17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ags/tag18.xml><?xml version="1.0" encoding="utf-8"?>
<p:tagLst xmlns:p="http://schemas.openxmlformats.org/presentationml/2006/main">
  <p:tag name="KSO_WM_DIAGRAM_VIRTUALLY_FRAME" val="{&quot;height&quot;:108.71999999999998,&quot;left&quot;:417.6,&quot;top&quot;:248.4,&quot;width&quot;:244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2485</Words>
  <Application>WPS 演示</Application>
  <PresentationFormat>On-screen Show (16:9)</PresentationFormat>
  <Paragraphs>227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黑体</vt:lpstr>
      <vt:lpstr>黑体</vt:lpstr>
      <vt:lpstr>Arial</vt:lpstr>
      <vt:lpstr>Arial</vt:lpstr>
      <vt:lpstr>微软雅黑</vt:lpstr>
      <vt:lpstr>微软雅黑</vt:lpstr>
      <vt:lpstr>Arial Unicode MS</vt:lpstr>
      <vt:lpstr>等线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 of Aeronautics and Astronautics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基于机器学习的中介机匣快速优化设计方法研究</dc:title>
  <dc:creator>Codex</dc:creator>
  <dc:subject>大学生创新训练计划项目答辩</dc:subject>
  <cp:lastModifiedBy>Lucien</cp:lastModifiedBy>
  <cp:revision>2</cp:revision>
  <dcterms:created xsi:type="dcterms:W3CDTF">2026-04-17T02:46:00Z</dcterms:created>
  <dcterms:modified xsi:type="dcterms:W3CDTF">2026-04-17T03:09:53Z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B5935E6C6D074C76845423C5249050A8_13</vt:lpwstr>
  </property>
</Properties>
</file>